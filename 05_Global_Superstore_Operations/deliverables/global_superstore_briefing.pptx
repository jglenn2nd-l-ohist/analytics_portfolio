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7432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1A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200" dirty="0"/>
          </a:p>
          <a:p>
            <a:pPr algn="r" indent="0" marL="0">
              <a:buNone/>
            </a:pPr>
            <a:r>
              <a:rPr lang="en-US" sz="7200" b="1" dirty="0">
                <a:solidFill>
                  <a:srgbClr val="1A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Analysis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27432"/>
          </a:xfrm>
          <a:prstGeom prst="rect">
            <a:avLst/>
          </a:prstGeom>
          <a:solidFill>
            <a:srgbClr val="4A627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COO Operations 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J. Glenn  ·  BI Portfolio Project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OBJECTIVE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Commissioned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5120640" cy="137160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retail operation spanning 7 markets and multiple customer segments engaged a BI Analyst to support the COO with a full operational review. Shipping costs are a growing concern, return rates vary significantly by region, and leadership needs to understand not just where performance is breaking down, but why.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5120640" cy="82296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9359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operational factors driving high shipping costs and elevated return rates. The goal is root cause. Surface the patterns the COO can act 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Business Questions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2057400"/>
            <a:ext cx="3017520" cy="658368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30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130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usage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cost implications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2807208"/>
            <a:ext cx="3017520" cy="658368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by region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3557016"/>
            <a:ext cx="3017520" cy="658368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6301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3630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return 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4306824"/>
            <a:ext cx="3017520" cy="658368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4379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43799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correlating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cost &amp; returns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Pipeline &amp;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37160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51,291 rows · 24 cols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sales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2011 – Dec 2014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137160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1,174 rows · 3 cols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order flags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37160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rows · 2 cols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manager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1920240" cy="91440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 (3 sheets)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3108960"/>
            <a:ext cx="1920240" cy="91440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merge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engineer ship_time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3108960"/>
            <a:ext cx="1920240" cy="91440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relational tables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5120" y="3108960"/>
            <a:ext cx="1920240" cy="91440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layer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160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· pandas, numpy, matplotlib, seaborn, xlrd, sqlite3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SQL · SQLite analytical query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3504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Power BI · Executive 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 Superstore Dataset · Kaggle (CC0: Public Domain)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SHIPPING MODE &amp; COST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shipping modes are being used,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is the cost implication?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201168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1371600" cy="2560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 analysis reveals profit losses exceeding $2,000 per order, found in all categories. The cost of shipping is not being recovered through pricing. That is a structural mismatch between ship mode selection and margin expectations.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2926080" cy="201168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26334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region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/ ship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85032"/>
            <a:ext cx="1371600" cy="256032"/>
          </a:xfrm>
          <a:prstGeom prst="rect">
            <a:avLst/>
          </a:prstGeom>
          <a:solidFill>
            <a:srgbClr val="2E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RECOMMENDATION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8640" y="39959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pricing study to determine the proper shipping cost structure for corporate accounts across all shipping modes.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REVENUE &amp; PROFIT LEADERS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and segments generate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revenue and profit?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201168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1371600" cy="2560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is the profit leader. It runs 50% above the second-place region. That level of outperformance suggests Central is doing something operationally that other regions are not. The gap is wide enough to be structural, not incidental.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2926080" cy="201168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vs. #2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leadership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second-place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85032"/>
            <a:ext cx="1371600" cy="256032"/>
          </a:xfrm>
          <a:prstGeom prst="rect">
            <a:avLst/>
          </a:prstGeom>
          <a:solidFill>
            <a:srgbClr val="2E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RECOMMENDATION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8640" y="39959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an operational review of the Central region to identify the practices driving its profit leadership and assess replicability across underperforming regions.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RETURN RATE PATTERNS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have the highest return rates,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there a pattern?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201168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1371600" cy="2560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average return rate is 5.96%. North Asia, North, and West regions all exceed double the company average in both category and segment breakdowns. This is not isolated variation. It is a consistent pattern across multiple dimensions of the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2926080" cy="201168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Average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5.96%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035040" y="2450592"/>
            <a:ext cx="2377440" cy="18288"/>
          </a:xfrm>
          <a:prstGeom prst="rect">
            <a:avLst/>
          </a:prstGeom>
          <a:solidFill>
            <a:srgbClr val="4A6278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Asia · North · West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2× company average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85032"/>
            <a:ext cx="1371600" cy="256032"/>
          </a:xfrm>
          <a:prstGeom prst="rect">
            <a:avLst/>
          </a:prstGeom>
          <a:solidFill>
            <a:srgbClr val="2E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RECOMMENDATION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" y="39959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return survey in North Asia, North, and West regions to identify root causes and inform a targeted reduction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CORRELATIONAL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co-occur with high shipping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and elevated return rates?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137160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returned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high shipping costs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51760" cy="137160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37560" y="21214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 sold at or below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avg of $721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51760" cy="1371600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72200" y="21214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~53% of the 824 sold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full price, no discount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54864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92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note: Q4 identifies co-occurring factors, not confirmed causes. These patterns warrant further investigation before prescribing operational changes.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30752"/>
            <a:ext cx="1371600" cy="256032"/>
          </a:xfrm>
          <a:prstGeom prst="rect">
            <a:avLst/>
          </a:prstGeom>
          <a:solidFill>
            <a:srgbClr val="2E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RECOMMENDATION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8640" y="404164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discount strategy for high-shipping-cost, low-sale-price items as a perceived value intervention to reduce return rates.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Questions. Four Recommendations.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841248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profit patterns across ship mode / region combinations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18288" cy="548640"/>
          </a:xfrm>
          <a:prstGeom prst="rect">
            <a:avLst/>
          </a:prstGeom>
          <a:solidFill>
            <a:srgbClr val="4A627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258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shipping cost pricing study for corporate accounts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8412480" cy="841248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leads profit by 50% over second-place region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350008"/>
            <a:ext cx="18288" cy="548640"/>
          </a:xfrm>
          <a:prstGeom prst="rect">
            <a:avLst/>
          </a:prstGeom>
          <a:solidFill>
            <a:srgbClr val="4A627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258568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2286000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operational review of Central. Assess replicability.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8412480" cy="841248"/>
          </a:xfrm>
          <a:prstGeom prst="rect">
            <a:avLst/>
          </a:prstGeom>
          <a:solidFill>
            <a:srgbClr val="1A2D42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91256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Asia, North &amp; West exceed 2× the company return rate (5.96%)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82696"/>
            <a:ext cx="18288" cy="548640"/>
          </a:xfrm>
          <a:prstGeom prst="rect">
            <a:avLst/>
          </a:prstGeom>
          <a:solidFill>
            <a:srgbClr val="4A627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191256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3218688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return survey in flagged regions to identify root causes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78224"/>
            <a:ext cx="8412480" cy="841248"/>
          </a:xfrm>
          <a:prstGeom prst="rect">
            <a:avLst/>
          </a:prstGeom>
          <a:solidFill>
            <a:srgbClr val="243650"/>
          </a:solidFill>
          <a:ln w="6350">
            <a:solidFill>
              <a:srgbClr val="4A62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23944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415137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high-cost returns; 542 at/below avg price; 436 without discount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215384"/>
            <a:ext cx="18288" cy="548640"/>
          </a:xfrm>
          <a:prstGeom prst="rect">
            <a:avLst/>
          </a:prstGeom>
          <a:solidFill>
            <a:srgbClr val="4A627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123944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66360" y="4151376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discount strategy as perceived value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BFA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Glenn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Analyst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572000" cy="27432"/>
          </a:xfrm>
          <a:prstGeom prst="rect">
            <a:avLst/>
          </a:prstGeom>
          <a:solidFill>
            <a:srgbClr val="4A627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github.com/jglenn2nd-L-ohist/Analytics_portfolio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ON THIS PROJECT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matplotlib · seaborn · xlrd · sqlite3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analytical query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operations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4389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05 · Global Superstore Operations Analysis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Portfolio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2026-07-31T16:55:51Z</dcterms:created>
  <dcterms:modified xsi:type="dcterms:W3CDTF">2026-07-31T16:55:51Z</dcterms:modified>
</cp:coreProperties>
</file>